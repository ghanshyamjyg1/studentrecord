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0"/>
  </p:normalViewPr>
  <p:slideViewPr>
    <p:cSldViewPr snapToGrid="0" snapToObjects="1">
      <p:cViewPr varScale="1">
        <p:scale>
          <a:sx n="105" d="100"/>
          <a:sy n="105" d="100"/>
        </p:scale>
        <p:origin x="3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AB1A4B-E121-45DD-96A6-288D97E693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A809CA-9AF9-411B-9845-78E127BA60D9}">
      <dgm:prSet/>
      <dgm:spPr/>
      <dgm:t>
        <a:bodyPr/>
        <a:lstStyle/>
        <a:p>
          <a:r>
            <a:rPr lang="en-US"/>
            <a:t>🖥️ Frontend (HTML / CSS / JS)</a:t>
          </a:r>
        </a:p>
      </dgm:t>
    </dgm:pt>
    <dgm:pt modelId="{376C7879-188B-45A1-8D96-5D1B02170F8B}" type="parTrans" cxnId="{497A8E5D-228E-4D5A-86FC-173CF04AC195}">
      <dgm:prSet/>
      <dgm:spPr/>
      <dgm:t>
        <a:bodyPr/>
        <a:lstStyle/>
        <a:p>
          <a:endParaRPr lang="en-US"/>
        </a:p>
      </dgm:t>
    </dgm:pt>
    <dgm:pt modelId="{1E52A7FB-FB86-43EC-8F94-DCE170DBA817}" type="sibTrans" cxnId="{497A8E5D-228E-4D5A-86FC-173CF04AC195}">
      <dgm:prSet/>
      <dgm:spPr/>
      <dgm:t>
        <a:bodyPr/>
        <a:lstStyle/>
        <a:p>
          <a:endParaRPr lang="en-US"/>
        </a:p>
      </dgm:t>
    </dgm:pt>
    <dgm:pt modelId="{53D5F4C6-9464-4F77-9A02-5FB05CB243D3}">
      <dgm:prSet/>
      <dgm:spPr/>
      <dgm:t>
        <a:bodyPr/>
        <a:lstStyle/>
        <a:p>
          <a:r>
            <a:rPr lang="en-US"/>
            <a:t>⬇️ REST API Calls</a:t>
          </a:r>
        </a:p>
      </dgm:t>
    </dgm:pt>
    <dgm:pt modelId="{B478475B-1B4B-4C76-91D6-7839037DAC61}" type="parTrans" cxnId="{6FFDDFE3-BF25-4A72-B711-D953A2DF91EF}">
      <dgm:prSet/>
      <dgm:spPr/>
      <dgm:t>
        <a:bodyPr/>
        <a:lstStyle/>
        <a:p>
          <a:endParaRPr lang="en-US"/>
        </a:p>
      </dgm:t>
    </dgm:pt>
    <dgm:pt modelId="{61EB5B66-4085-4877-87EF-828AD0F65E1B}" type="sibTrans" cxnId="{6FFDDFE3-BF25-4A72-B711-D953A2DF91EF}">
      <dgm:prSet/>
      <dgm:spPr/>
      <dgm:t>
        <a:bodyPr/>
        <a:lstStyle/>
        <a:p>
          <a:endParaRPr lang="en-US"/>
        </a:p>
      </dgm:t>
    </dgm:pt>
    <dgm:pt modelId="{3BCB5873-3516-4BC1-9863-6923AF12D098}">
      <dgm:prSet/>
      <dgm:spPr/>
      <dgm:t>
        <a:bodyPr/>
        <a:lstStyle/>
        <a:p>
          <a:r>
            <a:rPr lang="en-US"/>
            <a:t>⚙️ Spring Boot REST API</a:t>
          </a:r>
        </a:p>
      </dgm:t>
    </dgm:pt>
    <dgm:pt modelId="{3BD1C04B-913A-4399-8D74-7772B3DE19B2}" type="parTrans" cxnId="{17EF22A2-DC7D-4975-A03B-A986AD04301F}">
      <dgm:prSet/>
      <dgm:spPr/>
      <dgm:t>
        <a:bodyPr/>
        <a:lstStyle/>
        <a:p>
          <a:endParaRPr lang="en-US"/>
        </a:p>
      </dgm:t>
    </dgm:pt>
    <dgm:pt modelId="{75209EA5-F18D-47A5-9F7E-BC8A4E00DA56}" type="sibTrans" cxnId="{17EF22A2-DC7D-4975-A03B-A986AD04301F}">
      <dgm:prSet/>
      <dgm:spPr/>
      <dgm:t>
        <a:bodyPr/>
        <a:lstStyle/>
        <a:p>
          <a:endParaRPr lang="en-US"/>
        </a:p>
      </dgm:t>
    </dgm:pt>
    <dgm:pt modelId="{49B8A609-C516-4B4C-8B4A-F0FB2EC03C76}">
      <dgm:prSet/>
      <dgm:spPr/>
      <dgm:t>
        <a:bodyPr/>
        <a:lstStyle/>
        <a:p>
          <a:r>
            <a:rPr lang="en-US"/>
            <a:t>⬇️ JPA / Hibernate</a:t>
          </a:r>
        </a:p>
      </dgm:t>
    </dgm:pt>
    <dgm:pt modelId="{05420F42-CC2F-4CFC-A542-3CEBB1EF03D8}" type="parTrans" cxnId="{59FC07B2-11E6-4AAD-9CE0-DD0E64DC718F}">
      <dgm:prSet/>
      <dgm:spPr/>
      <dgm:t>
        <a:bodyPr/>
        <a:lstStyle/>
        <a:p>
          <a:endParaRPr lang="en-US"/>
        </a:p>
      </dgm:t>
    </dgm:pt>
    <dgm:pt modelId="{B9062CD9-76CE-4624-A46F-41BA15B722E4}" type="sibTrans" cxnId="{59FC07B2-11E6-4AAD-9CE0-DD0E64DC718F}">
      <dgm:prSet/>
      <dgm:spPr/>
      <dgm:t>
        <a:bodyPr/>
        <a:lstStyle/>
        <a:p>
          <a:endParaRPr lang="en-US"/>
        </a:p>
      </dgm:t>
    </dgm:pt>
    <dgm:pt modelId="{55342BED-AEBC-4086-AF6A-9CADD46FB60A}">
      <dgm:prSet/>
      <dgm:spPr/>
      <dgm:t>
        <a:bodyPr/>
        <a:lstStyle/>
        <a:p>
          <a:r>
            <a:rPr lang="en-US"/>
            <a:t>🗄️ MySQL Database</a:t>
          </a:r>
        </a:p>
      </dgm:t>
    </dgm:pt>
    <dgm:pt modelId="{C8AA2358-29F2-4688-8BAE-3477360EE4CB}" type="parTrans" cxnId="{7B55C154-973B-4E08-B3C7-314768443774}">
      <dgm:prSet/>
      <dgm:spPr/>
      <dgm:t>
        <a:bodyPr/>
        <a:lstStyle/>
        <a:p>
          <a:endParaRPr lang="en-US"/>
        </a:p>
      </dgm:t>
    </dgm:pt>
    <dgm:pt modelId="{FA92FED4-0496-43C7-B38A-F5D2C314FBCB}" type="sibTrans" cxnId="{7B55C154-973B-4E08-B3C7-314768443774}">
      <dgm:prSet/>
      <dgm:spPr/>
      <dgm:t>
        <a:bodyPr/>
        <a:lstStyle/>
        <a:p>
          <a:endParaRPr lang="en-US"/>
        </a:p>
      </dgm:t>
    </dgm:pt>
    <dgm:pt modelId="{41A0244A-1E66-D54E-AA44-BA51F7A6FC15}" type="pres">
      <dgm:prSet presAssocID="{38AB1A4B-E121-45DD-96A6-288D97E693F2}" presName="linear" presStyleCnt="0">
        <dgm:presLayoutVars>
          <dgm:animLvl val="lvl"/>
          <dgm:resizeHandles val="exact"/>
        </dgm:presLayoutVars>
      </dgm:prSet>
      <dgm:spPr/>
    </dgm:pt>
    <dgm:pt modelId="{7257346C-74F5-6640-9504-B61979A8B7AF}" type="pres">
      <dgm:prSet presAssocID="{45A809CA-9AF9-411B-9845-78E127BA60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F52956-A1FB-F644-9AE9-FA782F13FC46}" type="pres">
      <dgm:prSet presAssocID="{1E52A7FB-FB86-43EC-8F94-DCE170DBA817}" presName="spacer" presStyleCnt="0"/>
      <dgm:spPr/>
    </dgm:pt>
    <dgm:pt modelId="{5F2DC75E-BFD2-ED4D-A5D3-C4212A5DEF9E}" type="pres">
      <dgm:prSet presAssocID="{53D5F4C6-9464-4F77-9A02-5FB05CB243D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BA676E7-2505-6E45-8198-7DF890DA3404}" type="pres">
      <dgm:prSet presAssocID="{61EB5B66-4085-4877-87EF-828AD0F65E1B}" presName="spacer" presStyleCnt="0"/>
      <dgm:spPr/>
    </dgm:pt>
    <dgm:pt modelId="{F9EB0224-07F9-7F40-AD00-FFEE3F8C28BF}" type="pres">
      <dgm:prSet presAssocID="{3BCB5873-3516-4BC1-9863-6923AF12D09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E4C2515-E392-914B-BF1C-15ECF99A8B87}" type="pres">
      <dgm:prSet presAssocID="{75209EA5-F18D-47A5-9F7E-BC8A4E00DA56}" presName="spacer" presStyleCnt="0"/>
      <dgm:spPr/>
    </dgm:pt>
    <dgm:pt modelId="{84FD2361-4CBC-7F49-A8A4-29C27A051813}" type="pres">
      <dgm:prSet presAssocID="{49B8A609-C516-4B4C-8B4A-F0FB2EC03C7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6361E5C-9E34-F64C-8B14-08B11EF43ED4}" type="pres">
      <dgm:prSet presAssocID="{B9062CD9-76CE-4624-A46F-41BA15B722E4}" presName="spacer" presStyleCnt="0"/>
      <dgm:spPr/>
    </dgm:pt>
    <dgm:pt modelId="{53994008-C7CD-B745-BB42-CB3F24E806E3}" type="pres">
      <dgm:prSet presAssocID="{55342BED-AEBC-4086-AF6A-9CADD46FB60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C1CFB1F-46D2-034D-9C9A-2E8FF6C74E00}" type="presOf" srcId="{53D5F4C6-9464-4F77-9A02-5FB05CB243D3}" destId="{5F2DC75E-BFD2-ED4D-A5D3-C4212A5DEF9E}" srcOrd="0" destOrd="0" presId="urn:microsoft.com/office/officeart/2005/8/layout/vList2"/>
    <dgm:cxn modelId="{9C153629-9D7B-E042-BB40-1F36F304729B}" type="presOf" srcId="{3BCB5873-3516-4BC1-9863-6923AF12D098}" destId="{F9EB0224-07F9-7F40-AD00-FFEE3F8C28BF}" srcOrd="0" destOrd="0" presId="urn:microsoft.com/office/officeart/2005/8/layout/vList2"/>
    <dgm:cxn modelId="{7B55C154-973B-4E08-B3C7-314768443774}" srcId="{38AB1A4B-E121-45DD-96A6-288D97E693F2}" destId="{55342BED-AEBC-4086-AF6A-9CADD46FB60A}" srcOrd="4" destOrd="0" parTransId="{C8AA2358-29F2-4688-8BAE-3477360EE4CB}" sibTransId="{FA92FED4-0496-43C7-B38A-F5D2C314FBCB}"/>
    <dgm:cxn modelId="{497A8E5D-228E-4D5A-86FC-173CF04AC195}" srcId="{38AB1A4B-E121-45DD-96A6-288D97E693F2}" destId="{45A809CA-9AF9-411B-9845-78E127BA60D9}" srcOrd="0" destOrd="0" parTransId="{376C7879-188B-45A1-8D96-5D1B02170F8B}" sibTransId="{1E52A7FB-FB86-43EC-8F94-DCE170DBA817}"/>
    <dgm:cxn modelId="{4377E66A-B606-2C45-80A9-06FA49337D30}" type="presOf" srcId="{55342BED-AEBC-4086-AF6A-9CADD46FB60A}" destId="{53994008-C7CD-B745-BB42-CB3F24E806E3}" srcOrd="0" destOrd="0" presId="urn:microsoft.com/office/officeart/2005/8/layout/vList2"/>
    <dgm:cxn modelId="{4B64D48E-FA0A-9D40-9460-8AF5159E3878}" type="presOf" srcId="{38AB1A4B-E121-45DD-96A6-288D97E693F2}" destId="{41A0244A-1E66-D54E-AA44-BA51F7A6FC15}" srcOrd="0" destOrd="0" presId="urn:microsoft.com/office/officeart/2005/8/layout/vList2"/>
    <dgm:cxn modelId="{17EF22A2-DC7D-4975-A03B-A986AD04301F}" srcId="{38AB1A4B-E121-45DD-96A6-288D97E693F2}" destId="{3BCB5873-3516-4BC1-9863-6923AF12D098}" srcOrd="2" destOrd="0" parTransId="{3BD1C04B-913A-4399-8D74-7772B3DE19B2}" sibTransId="{75209EA5-F18D-47A5-9F7E-BC8A4E00DA56}"/>
    <dgm:cxn modelId="{2D1D80B0-7797-F542-B125-5B4780A8C21C}" type="presOf" srcId="{45A809CA-9AF9-411B-9845-78E127BA60D9}" destId="{7257346C-74F5-6640-9504-B61979A8B7AF}" srcOrd="0" destOrd="0" presId="urn:microsoft.com/office/officeart/2005/8/layout/vList2"/>
    <dgm:cxn modelId="{59FC07B2-11E6-4AAD-9CE0-DD0E64DC718F}" srcId="{38AB1A4B-E121-45DD-96A6-288D97E693F2}" destId="{49B8A609-C516-4B4C-8B4A-F0FB2EC03C76}" srcOrd="3" destOrd="0" parTransId="{05420F42-CC2F-4CFC-A542-3CEBB1EF03D8}" sibTransId="{B9062CD9-76CE-4624-A46F-41BA15B722E4}"/>
    <dgm:cxn modelId="{AC0713B8-8318-3449-9D70-CEBD57862603}" type="presOf" srcId="{49B8A609-C516-4B4C-8B4A-F0FB2EC03C76}" destId="{84FD2361-4CBC-7F49-A8A4-29C27A051813}" srcOrd="0" destOrd="0" presId="urn:microsoft.com/office/officeart/2005/8/layout/vList2"/>
    <dgm:cxn modelId="{6FFDDFE3-BF25-4A72-B711-D953A2DF91EF}" srcId="{38AB1A4B-E121-45DD-96A6-288D97E693F2}" destId="{53D5F4C6-9464-4F77-9A02-5FB05CB243D3}" srcOrd="1" destOrd="0" parTransId="{B478475B-1B4B-4C76-91D6-7839037DAC61}" sibTransId="{61EB5B66-4085-4877-87EF-828AD0F65E1B}"/>
    <dgm:cxn modelId="{F183EA6C-2C30-D340-93EA-EFB67949E005}" type="presParOf" srcId="{41A0244A-1E66-D54E-AA44-BA51F7A6FC15}" destId="{7257346C-74F5-6640-9504-B61979A8B7AF}" srcOrd="0" destOrd="0" presId="urn:microsoft.com/office/officeart/2005/8/layout/vList2"/>
    <dgm:cxn modelId="{61D0D609-343B-3541-B55D-6A7D1BC7C0CB}" type="presParOf" srcId="{41A0244A-1E66-D54E-AA44-BA51F7A6FC15}" destId="{70F52956-A1FB-F644-9AE9-FA782F13FC46}" srcOrd="1" destOrd="0" presId="urn:microsoft.com/office/officeart/2005/8/layout/vList2"/>
    <dgm:cxn modelId="{BDF8F475-501B-D140-86B8-9DF096519CCF}" type="presParOf" srcId="{41A0244A-1E66-D54E-AA44-BA51F7A6FC15}" destId="{5F2DC75E-BFD2-ED4D-A5D3-C4212A5DEF9E}" srcOrd="2" destOrd="0" presId="urn:microsoft.com/office/officeart/2005/8/layout/vList2"/>
    <dgm:cxn modelId="{44F0274D-9D51-6347-B1C9-E25C4C0BB04B}" type="presParOf" srcId="{41A0244A-1E66-D54E-AA44-BA51F7A6FC15}" destId="{BBA676E7-2505-6E45-8198-7DF890DA3404}" srcOrd="3" destOrd="0" presId="urn:microsoft.com/office/officeart/2005/8/layout/vList2"/>
    <dgm:cxn modelId="{633FD89A-BFDF-C745-8D7B-A1AFF32E3FDD}" type="presParOf" srcId="{41A0244A-1E66-D54E-AA44-BA51F7A6FC15}" destId="{F9EB0224-07F9-7F40-AD00-FFEE3F8C28BF}" srcOrd="4" destOrd="0" presId="urn:microsoft.com/office/officeart/2005/8/layout/vList2"/>
    <dgm:cxn modelId="{CF65A9CB-07AE-8044-B9ED-13852E3481AF}" type="presParOf" srcId="{41A0244A-1E66-D54E-AA44-BA51F7A6FC15}" destId="{CE4C2515-E392-914B-BF1C-15ECF99A8B87}" srcOrd="5" destOrd="0" presId="urn:microsoft.com/office/officeart/2005/8/layout/vList2"/>
    <dgm:cxn modelId="{A0F174DD-0F73-BA40-B417-0BAD91BFACF3}" type="presParOf" srcId="{41A0244A-1E66-D54E-AA44-BA51F7A6FC15}" destId="{84FD2361-4CBC-7F49-A8A4-29C27A051813}" srcOrd="6" destOrd="0" presId="urn:microsoft.com/office/officeart/2005/8/layout/vList2"/>
    <dgm:cxn modelId="{766CF948-4407-3940-A6A0-98F5EDAEB324}" type="presParOf" srcId="{41A0244A-1E66-D54E-AA44-BA51F7A6FC15}" destId="{F6361E5C-9E34-F64C-8B14-08B11EF43ED4}" srcOrd="7" destOrd="0" presId="urn:microsoft.com/office/officeart/2005/8/layout/vList2"/>
    <dgm:cxn modelId="{7F7E7324-4D4B-584B-8E24-9224C4CC9C80}" type="presParOf" srcId="{41A0244A-1E66-D54E-AA44-BA51F7A6FC15}" destId="{53994008-C7CD-B745-BB42-CB3F24E806E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7346C-74F5-6640-9504-B61979A8B7AF}">
      <dsp:nvSpPr>
        <dsp:cNvPr id="0" name=""/>
        <dsp:cNvSpPr/>
      </dsp:nvSpPr>
      <dsp:spPr>
        <a:xfrm>
          <a:off x="0" y="831593"/>
          <a:ext cx="4683949" cy="7207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🖥️ Frontend (HTML / CSS / JS)</a:t>
          </a:r>
        </a:p>
      </dsp:txBody>
      <dsp:txXfrm>
        <a:off x="35183" y="866776"/>
        <a:ext cx="4613583" cy="650354"/>
      </dsp:txXfrm>
    </dsp:sp>
    <dsp:sp modelId="{5F2DC75E-BFD2-ED4D-A5D3-C4212A5DEF9E}">
      <dsp:nvSpPr>
        <dsp:cNvPr id="0" name=""/>
        <dsp:cNvSpPr/>
      </dsp:nvSpPr>
      <dsp:spPr>
        <a:xfrm>
          <a:off x="0" y="1632953"/>
          <a:ext cx="4683949" cy="72072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⬇️ REST API Calls</a:t>
          </a:r>
        </a:p>
      </dsp:txBody>
      <dsp:txXfrm>
        <a:off x="35183" y="1668136"/>
        <a:ext cx="4613583" cy="650354"/>
      </dsp:txXfrm>
    </dsp:sp>
    <dsp:sp modelId="{F9EB0224-07F9-7F40-AD00-FFEE3F8C28BF}">
      <dsp:nvSpPr>
        <dsp:cNvPr id="0" name=""/>
        <dsp:cNvSpPr/>
      </dsp:nvSpPr>
      <dsp:spPr>
        <a:xfrm>
          <a:off x="0" y="2434313"/>
          <a:ext cx="4683949" cy="72072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⚙️ Spring Boot REST API</a:t>
          </a:r>
        </a:p>
      </dsp:txBody>
      <dsp:txXfrm>
        <a:off x="35183" y="2469496"/>
        <a:ext cx="4613583" cy="650354"/>
      </dsp:txXfrm>
    </dsp:sp>
    <dsp:sp modelId="{84FD2361-4CBC-7F49-A8A4-29C27A051813}">
      <dsp:nvSpPr>
        <dsp:cNvPr id="0" name=""/>
        <dsp:cNvSpPr/>
      </dsp:nvSpPr>
      <dsp:spPr>
        <a:xfrm>
          <a:off x="0" y="3235673"/>
          <a:ext cx="4683949" cy="72072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⬇️ JPA / Hibernate</a:t>
          </a:r>
        </a:p>
      </dsp:txBody>
      <dsp:txXfrm>
        <a:off x="35183" y="3270856"/>
        <a:ext cx="4613583" cy="650354"/>
      </dsp:txXfrm>
    </dsp:sp>
    <dsp:sp modelId="{53994008-C7CD-B745-BB42-CB3F24E806E3}">
      <dsp:nvSpPr>
        <dsp:cNvPr id="0" name=""/>
        <dsp:cNvSpPr/>
      </dsp:nvSpPr>
      <dsp:spPr>
        <a:xfrm>
          <a:off x="0" y="4037033"/>
          <a:ext cx="4683949" cy="72072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🗄️ MySQL Database</a:t>
          </a:r>
        </a:p>
      </dsp:txBody>
      <dsp:txXfrm>
        <a:off x="35183" y="4072216"/>
        <a:ext cx="4613583" cy="650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288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288" y="0"/>
            <a:ext cx="2414186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154" y="1608667"/>
            <a:ext cx="2117456" cy="45011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Record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773" y="1608667"/>
            <a:ext cx="3307019" cy="450112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Student Name: Ashika Mandal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Course: </a:t>
            </a:r>
            <a:r>
              <a:rPr lang="en-US" sz="1700" dirty="0" err="1"/>
              <a:t>B.Tech</a:t>
            </a:r>
            <a:r>
              <a:rPr lang="en-US" sz="1700" dirty="0"/>
              <a:t> (4th Year)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Enterprise-style Java Spring Boot REST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9496" y="182880"/>
            <a:ext cx="2566467" cy="4501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The Student Record Management System is a Spring Boot based REST API application.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It allows efficient management of student information using CRUD operations following layered architecture.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/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Manual student record management is time-consuming and error-prone.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This project provides a digital, secure, and scalable solution.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 dirty="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altLang="en-US" sz="1600" dirty="0">
                <a:solidFill>
                  <a:srgbClr val="000000"/>
                </a:solidFill>
                <a:latin typeface="-webkit-standard"/>
              </a:rPr>
              <a:t>There is a </a:t>
            </a:r>
            <a:r>
              <a:rPr lang="en-US" altLang="en-US" sz="1600" b="1" dirty="0">
                <a:solidFill>
                  <a:srgbClr val="000000"/>
                </a:solidFill>
              </a:rPr>
              <a:t>high risk of data loss</a:t>
            </a:r>
            <a:r>
              <a:rPr lang="en-US" altLang="en-US" sz="1600" dirty="0">
                <a:solidFill>
                  <a:srgbClr val="000000"/>
                </a:solidFill>
                <a:latin typeface="-webkit-standard"/>
              </a:rPr>
              <a:t> due to improper storage or human mistakes.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315999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74171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412489"/>
            <a:ext cx="2153321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9244" y="1412489"/>
            <a:ext cx="2194560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Java 17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Spring Boot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Spring Data JPA (Hibernate)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H2 / MySQL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REST APIs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HTML, CSS,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8703" y="1412489"/>
            <a:ext cx="219456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/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7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Controller Layer – Handles HTTP requests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Service Layer – Business logic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Repository Layer – Database operations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Database – Stores student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92" y="4291584"/>
            <a:ext cx="3372735" cy="1602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315999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74171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412489"/>
            <a:ext cx="2153321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4448" y="1412489"/>
            <a:ext cx="3523488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User sends request via UI / Postman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→ Controller receives request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→ Service processes logic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→ Repository interacts with DB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→ Response returned to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4833" y="534665"/>
            <a:ext cx="1669167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288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288" y="0"/>
            <a:ext cx="2414186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154" y="1608667"/>
            <a:ext cx="2117456" cy="45011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REST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773" y="1608667"/>
            <a:ext cx="4123883" cy="450112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POST /students – Add student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GET /students – View all students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GET /students/{id} – View student by ID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PUT /students/{id} – Update student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DELETE /students/{id} – Delete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0766" y="182880"/>
            <a:ext cx="2566467" cy="4501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Add Student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View Student Records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Update Student Details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Delete Student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Global Exception Handling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/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840065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68605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0833"/>
            <a:ext cx="3822700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Centralized GlobalExceptionHandler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Handles: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• Invalid requests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• Resource not found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• Method not allowed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/>
              <a:t>• Runtime 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2660" y="768878"/>
            <a:ext cx="3822700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Database &amp;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H2 Database used for development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MySQL supported for production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 dirty="0"/>
              <a:t>Hibernate ORM handles mapping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18991" y="1247078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A6B319F-86FE-4754-878E-06F0804D8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288" cy="6858000"/>
          </a:xfrm>
          <a:prstGeom prst="rect">
            <a:avLst/>
          </a:prstGeom>
          <a:solidFill>
            <a:schemeClr val="accent5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F7D1B5-3477-499F-ACC5-2C8B07F4E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288" y="0"/>
            <a:ext cx="2414186" cy="685800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154" y="1608667"/>
            <a:ext cx="2117456" cy="45011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defRPr sz="3600">
                <a:latin typeface="Calibri"/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BFDEB9-6BD1-42EE-2235-64D3D514C1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0773" y="1608667"/>
            <a:ext cx="2953451" cy="45011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This project demonstrates 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enterprise-level application design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 using Java and Spring Boot.</a:t>
            </a:r>
          </a:p>
          <a:p>
            <a:pPr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It follows 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industry best practices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 such as layered architecture, RESTful APIs, and proper exception handling.</a:t>
            </a:r>
          </a:p>
          <a:p>
            <a:pPr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The application implements 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complete CRUD operations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 with real database integration (MySQL).</a:t>
            </a:r>
          </a:p>
          <a:p>
            <a:pPr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It ensures 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data consistency, validation, and maintainability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, making it scalable for future enhancements.</a:t>
            </a:r>
          </a:p>
          <a:p>
            <a:pPr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The project provides hands-on experience with 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</a:rPr>
              <a:t>frontend–backend integration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478" y="1328251"/>
            <a:ext cx="2566467" cy="4501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>
                <a:latin typeface="Calibri"/>
              </a:defRPr>
            </a:pPr>
            <a:r>
              <a:rPr lang="en-US" sz="1700" dirty="0"/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182880" y="1828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latin typeface="Calibri"/>
              </a:defRPr>
            </a:pPr>
            <a:r>
              <a:rPr lang="en-IN" dirty="0"/>
              <a:t>📝 Student Registration Form &amp; Data</a:t>
            </a:r>
            <a:br>
              <a:rPr lang="en-IN" dirty="0"/>
            </a:br>
            <a:endParaRPr dirty="0"/>
          </a:p>
        </p:txBody>
      </p:sp>
      <p:pic>
        <p:nvPicPr>
          <p:cNvPr id="4" name="Picture 3" descr="2 student 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982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latin typeface="Calibri"/>
              </a:defRPr>
            </a:pPr>
            <a:r>
              <a:rPr lang="en-IN" dirty="0"/>
              <a:t>🗄️ MySQL Database Structure</a:t>
            </a:r>
            <a:br>
              <a:rPr lang="en-IN" dirty="0"/>
            </a:br>
            <a:endParaRPr dirty="0"/>
          </a:p>
        </p:txBody>
      </p:sp>
      <p:pic>
        <p:nvPicPr>
          <p:cNvPr id="4" name="Picture 3" descr="3 My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5486400" cy="7510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defRPr>
                <a:latin typeface="Calibri"/>
              </a:defRPr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🔄 Application Flow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4C119584-3B21-CCCE-7CCF-F674CF4F5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01650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latin typeface="Calibri"/>
              </a:defRPr>
            </a:pPr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🌐 REST API Flow</a:t>
            </a:r>
            <a:b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7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722924" y="518400"/>
            <a:ext cx="357870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Calibri"/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📥 GET   → Fetch student records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➕ POST → Add new student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✏️ PUT  → Update student details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❌ DELETE → Remove student record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Calibri"/>
              </a:defRPr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Calibri"/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All APIs are exposed using Spring Boot REST Controllers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8" name="Freeform: Shape 89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3984"/>
            <a:ext cx="7032474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0" y="3985"/>
            <a:ext cx="7329573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20" name="Freeform: Shape 92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1" name="Freeform: Shape 93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2" name="Freeform: Shape 94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3B634A5E-2116-8444-6F80-BC451AA64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6877" y="1741337"/>
            <a:ext cx="7136711" cy="27142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hangingPunct="1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Thank You for Your Time and Consideration</a:t>
            </a:r>
            <a: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 🙏</a:t>
            </a:r>
            <a:b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b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I welcome your feedback, questions, and suggestions</a:t>
            </a:r>
            <a:b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b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defTabSz="914400" eaLnBrk="1" fontAlgn="base" hangingPunct="1">
              <a:lnSpc>
                <a:spcPct val="90000"/>
              </a:lnSpc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1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Ashika Mandal</a:t>
            </a:r>
            <a:br>
              <a:rPr kumimoji="0" lang="en-US" altLang="en-US" sz="2500" b="0" i="0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r>
              <a:rPr kumimoji="0" lang="en-US" altLang="en-US" sz="2500" b="0" i="1" u="none" strike="noStrike" kern="1200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B.Tech</a:t>
            </a:r>
            <a:r>
              <a:rPr kumimoji="0" lang="en-US" altLang="en-US" sz="2500" b="0" i="1" u="none" strike="noStrike" kern="1200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, 4th Year Student</a:t>
            </a:r>
            <a:endParaRPr kumimoji="0" lang="en-US" altLang="en-US" sz="2500" b="0" i="0" u="none" strike="noStrike" kern="1200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6" y="2854"/>
            <a:ext cx="2087566" cy="2406445"/>
            <a:chOff x="-305" y="-4155"/>
            <a:chExt cx="2514948" cy="2174333"/>
          </a:xfrm>
        </p:grpSpPr>
        <p:sp>
          <p:nvSpPr>
            <p:cNvPr id="124" name="Freeform: Shape 101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reeform: Shape 102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: Shape 103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7" name="Freeform: Shape 104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62939" y="4456669"/>
            <a:ext cx="2087566" cy="2406445"/>
            <a:chOff x="-305" y="-4155"/>
            <a:chExt cx="2514948" cy="2174333"/>
          </a:xfrm>
        </p:grpSpPr>
        <p:sp>
          <p:nvSpPr>
            <p:cNvPr id="129" name="Freeform: Shape 107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Freeform: Shape 108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Freeform: Shape 109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2" name="Freeform: Shape 110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617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456</Words>
  <Application>Microsoft Macintosh PowerPoint</Application>
  <PresentationFormat>On-screen Show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-webkit-standard</vt:lpstr>
      <vt:lpstr>Arial</vt:lpstr>
      <vt:lpstr>Calibri</vt:lpstr>
      <vt:lpstr>Office Theme</vt:lpstr>
      <vt:lpstr>Student Record Management System</vt:lpstr>
      <vt:lpstr>Project Overview</vt:lpstr>
      <vt:lpstr>Problem Statement</vt:lpstr>
      <vt:lpstr>Technology Stack</vt:lpstr>
      <vt:lpstr>System Architecture</vt:lpstr>
      <vt:lpstr>Application Flow</vt:lpstr>
      <vt:lpstr>REST API Endpoints</vt:lpstr>
      <vt:lpstr>Core Features</vt:lpstr>
      <vt:lpstr>Exception Handling</vt:lpstr>
      <vt:lpstr>Database &amp; Persistence</vt:lpstr>
      <vt:lpstr>Conclusion</vt:lpstr>
      <vt:lpstr>📝 Student Registration Form &amp; Data </vt:lpstr>
      <vt:lpstr>🗄️ MySQL Database Structure </vt:lpstr>
      <vt:lpstr>🔄 Application Flow </vt:lpstr>
      <vt:lpstr>🌐 REST API Flow </vt:lpstr>
      <vt:lpstr>Thank You for Your Time and Consideration 🙏  I welcome your feedback, questions, and suggestions   Ashika Mandal B.Tech, 4th Year Student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Ghanshyam Mandal</cp:lastModifiedBy>
  <cp:revision>2</cp:revision>
  <dcterms:created xsi:type="dcterms:W3CDTF">2013-01-27T09:14:16Z</dcterms:created>
  <dcterms:modified xsi:type="dcterms:W3CDTF">2026-01-07T08:33:42Z</dcterms:modified>
  <cp:category/>
</cp:coreProperties>
</file>